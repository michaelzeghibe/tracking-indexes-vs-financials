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596B98-9F62-405E-811A-84412A7FBBAD}" v="1" dt="2026-03-02T02:04:28.4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00" autoAdjust="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56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ghibe, Michael W" userId="19d047e5-9c41-4071-99e6-7fc18e142dcf" providerId="ADAL" clId="{4E03CE7B-4AAF-4696-8E72-F7B31D2C120D}"/>
    <pc:docChg chg="addSld delSld modSld">
      <pc:chgData name="Zeghibe, Michael W" userId="19d047e5-9c41-4071-99e6-7fc18e142dcf" providerId="ADAL" clId="{4E03CE7B-4AAF-4696-8E72-F7B31D2C120D}" dt="2026-03-02T02:04:36.102" v="2" actId="47"/>
      <pc:docMkLst>
        <pc:docMk/>
      </pc:docMkLst>
      <pc:sldChg chg="del">
        <pc:chgData name="Zeghibe, Michael W" userId="19d047e5-9c41-4071-99e6-7fc18e142dcf" providerId="ADAL" clId="{4E03CE7B-4AAF-4696-8E72-F7B31D2C120D}" dt="2026-03-02T02:04:36.102" v="2" actId="47"/>
        <pc:sldMkLst>
          <pc:docMk/>
          <pc:sldMk cId="0" sldId="265"/>
        </pc:sldMkLst>
      </pc:sldChg>
      <pc:sldChg chg="add del setBg">
        <pc:chgData name="Zeghibe, Michael W" userId="19d047e5-9c41-4071-99e6-7fc18e142dcf" providerId="ADAL" clId="{4E03CE7B-4AAF-4696-8E72-F7B31D2C120D}" dt="2026-03-02T02:04:36.012" v="1" actId="47"/>
        <pc:sldMkLst>
          <pc:docMk/>
          <pc:sldMk cId="2259131167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662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Tracking Indexes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vs. Financials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ETF Correlation, Risk &amp; Portfolio Strategy Analysis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52044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94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Zeghibe  &amp;  Connor Correnti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485 — Data Science Capstone 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188720"/>
          </a:xfrm>
          <a:prstGeom prst="rect">
            <a:avLst/>
          </a:prstGeom>
          <a:solidFill>
            <a:srgbClr val="0A1628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correlations between popular ETFs — VOO, QQQ, ARKK, and MAGS — shift over time, and what does this mean for portfolio diversification?"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606040"/>
            <a:ext cx="2560320" cy="54864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correlation snapshots miss regime shifts — correlations spike during crises, eroding diversification when it's needed most.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26060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2606040"/>
            <a:ext cx="2560320" cy="54864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6616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Approach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6616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Time-varying analysis across 1Y, 2Y, and 3Y rolling windows using monthly log returns, Bayesian updating, and Monte Carlo portfolio simulation.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260604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2606040"/>
            <a:ext cx="2560320" cy="54864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Relevance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3200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retail investors understand when their 'diversified' ETF portfolio actually behaves like a single concentrated bet.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Overview &amp; Provenance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6949440" cy="16276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S&amp;P 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Market / 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QQQ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Nasdaq-100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Tech-Heavy / 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ARKK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Disruptive Innovation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Thematic / Active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Magnificent 7 Stocks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Concentrated / Passive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Shape 1"/>
          <p:cNvSpPr/>
          <p:nvPr/>
        </p:nvSpPr>
        <p:spPr>
          <a:xfrm>
            <a:off x="640080" y="288036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640080" y="2880360"/>
            <a:ext cx="73152" cy="146304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914400" y="2926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Processing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 scraped from online financial sources as Excel files. VIX loaded as a volatility reference. All prices aligned to common overlapping dates, converted to monthly end-of-month, and transformed to log returns.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2880360"/>
            <a:ext cx="38404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663440" y="2880360"/>
            <a:ext cx="73152" cy="1463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937760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Libraries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937760" y="32461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(primary): readxl, dplyr, tidyr, zoo, ggplot2, lubridate, gridExtra, reshape2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(portfolio sim): pandas, numpy, matplotlib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 Power BI (.pbix dashboard)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454456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available on GitHub: michaelzeghibe/Tracking-Indexes-VS-Financials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ETF Price Trends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30352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5120640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35040" y="914400"/>
            <a:ext cx="27432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035040" y="914400"/>
            <a:ext cx="73152" cy="393192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6364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263640" y="1371600"/>
            <a:ext cx="2377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 and QQQ trade at similar price levels ($400–$650), showing steady upward trends.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and MAGS trade at much lower absolute prices ($30–$80), reflecting their different fund structures.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overlapping period (2023–2026) captures the post-pandemic recovery and AI-driven rally.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overtook VOO in price during the 2025 tech surge.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Analysis: R Output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Summary Statistics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34440"/>
            <a:ext cx="3749040" cy="1005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754880" y="91440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46320" y="960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Annualized Volatility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234440"/>
            <a:ext cx="3749040" cy="10058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25146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2560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 Ratios (rf = 4%)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834640"/>
            <a:ext cx="3749040" cy="8686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54880" y="251460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4846320" y="2560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Beta vs. VOO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788920"/>
            <a:ext cx="3383280" cy="9144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457200" y="397764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0"/>
          <p:cNvSpPr/>
          <p:nvPr/>
        </p:nvSpPr>
        <p:spPr>
          <a:xfrm>
            <a:off x="457200" y="3977640"/>
            <a:ext cx="2697480" cy="45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1"/>
          <p:cNvSpPr/>
          <p:nvPr/>
        </p:nvSpPr>
        <p:spPr>
          <a:xfrm>
            <a:off x="548640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40.1%</a:t>
            </a:r>
            <a:endParaRPr lang="en-US" sz="2600" dirty="0"/>
          </a:p>
        </p:txBody>
      </p:sp>
      <p:sp>
        <p:nvSpPr>
          <p:cNvPr id="18" name="Text 12"/>
          <p:cNvSpPr/>
          <p:nvPr/>
        </p:nvSpPr>
        <p:spPr>
          <a:xfrm>
            <a:off x="169164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Vol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1691640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383280" y="397764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3383280" y="3977640"/>
            <a:ext cx="269748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6"/>
          <p:cNvSpPr/>
          <p:nvPr/>
        </p:nvSpPr>
        <p:spPr>
          <a:xfrm>
            <a:off x="3474720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2.68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461772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Beta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617720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amplification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309360" y="3977640"/>
            <a:ext cx="269748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309360" y="3977640"/>
            <a:ext cx="2697480" cy="45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6400800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1.56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7543800" y="4041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MAGS Sharpe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7543800" y="4297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risk-adjusted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Static Correlation Analysis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7548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05840"/>
            <a:ext cx="4480560" cy="3749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914400"/>
            <a:ext cx="32004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486400" y="914400"/>
            <a:ext cx="73152" cy="393192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715000" y="10515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715000" y="141732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QQQ–MAGS: 0.92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nearly in lockstep — holding both provides almost zero diversification.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VOO–QQQ: 0.90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overlap due to mega-cap tech dominating both indexes.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ARKK–VOO: 0.78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correlation — ARKK offers the most decorrelation, but at extreme volatility cost.
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ARKK–MAGS: 0.77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vs. concentrated passive strategies diverge more than expected.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Time-Varying Rolling Correlations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960120"/>
            <a:ext cx="73152" cy="173736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 Correlations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VOO-QQQ stays tightly correlated (~0.9+). VOO-VIX is persistently negative — VIX hedges broad market risk effectively.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6012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73152" cy="173736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ARKK Correlations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decorrelates sharply during the 2020 rally and 2022 crash. 1Y window shows ARKK-VOO dropping below 0.5.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0080" y="2926080"/>
            <a:ext cx="73152" cy="173736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QQQ Correlations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maintains very high correlations with MAGS (0.90+) and VOO (0.85+). Limited benefit from holding both.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84048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73152" cy="1737360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MAGS Correlations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3832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history limits 3Y windows. Strong co-movement with QQQ and VOO. MAGS-VIX is expectedly negative.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12-month (1Y), 24-month (2Y), 36-month (3Y) rolling windows on monthly log returns using zoo::rollapply in R.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Updating Framework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6052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3977640" cy="2834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947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Monthly Log Return (Posterior Mean)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617720" y="868680"/>
            <a:ext cx="416052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914400"/>
            <a:ext cx="3977640" cy="2834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09160" y="379476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P(Positive Return Next Month)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0A1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548640" y="41605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ARKK's posterior mean plummeted to –0.03 during the 2022 drawdown while VOO/QQQ remained positive. ARKK's probability of positive return fell below 42%, signaling a clear regime shift. The Bayesian model adapts allocation weights in real-time as new data arrives.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Portfolio Adjustment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5029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4846320" cy="3246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2062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Strategy: Bayesian-Adjusted Weights Over Time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669280" y="868680"/>
            <a:ext cx="310896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669280" y="868680"/>
            <a:ext cx="73152" cy="15544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897880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Exit &amp; Trading Rules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234440"/>
            <a:ext cx="274320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9788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and exit rules compared across ETFs. VOO shows 5.38x growth; QQQ leads at 11.1x.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5669280" y="2606040"/>
            <a:ext cx="31089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5669280" y="2606040"/>
            <a:ext cx="73152" cy="182880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5897880" y="26517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Factor Output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6440" y="2971800"/>
            <a:ext cx="2880360" cy="10515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9788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QQQ prob-rule growth: 7.19x over 131/145 months invested — the Bayesian signal avoided 14 months of drawdowns.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804672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197864"/>
            <a:ext cx="502920" cy="50292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197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1247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Diversification Is Time-Dependent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141732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between QQQ, VOO, and MAGS surge during stress. The 2020 and 2022 crises saw correlations spike above 0.95 — portfolios that looked diversified moved as one.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039112"/>
            <a:ext cx="7863840" cy="804672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2185416"/>
            <a:ext cx="502920" cy="50292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2185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211226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ARKK Is the Wild Card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2404872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ARKK offers decorrelation but at extreme cost — 40.1% annualized volatility, 2.68 beta vs. VOO. Useful only in small allocations for aggressive investors.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026664"/>
            <a:ext cx="7863840" cy="804672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3172968"/>
            <a:ext cx="502920" cy="50292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" y="3172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09981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QQQ and MAGS Are Nearly Identical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39242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0.92 correlation, holding both is effectively doubling down on mega-cap tech. Investors should choose one, not both.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014216"/>
            <a:ext cx="7863840" cy="804672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08760" y="40873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Bayesian Updating Adds Real Value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508760" y="4379976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Bayesian framework flagged ARKK's deterioration early. QQQ's prob-rule strategy achieved 7.19x growth while avoiding 14 months of drawdowns.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9144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" y="914400"/>
            <a:ext cx="3840480" cy="3840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MAGS history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launched 2023 — limits long-term backtesting and 3Y rolling windows.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transaction costs modeled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 returns assume frictionless rebalancing.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strategy weights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strategies use fixed starting weights.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&amp; selection bias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ETFs chosen ex-post based on current popularity.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33-month overlap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period limited to ~33 months due to MAGS inception.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91440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3840480" cy="384048"/>
          </a:xfrm>
          <a:prstGeom prst="rect">
            <a:avLst/>
          </a:prstGeom>
          <a:solidFill>
            <a:srgbClr val="0F7B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914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46320" y="141732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regime identification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Hidden Markov Models to detect bull/bear/crisis regimes.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Bayesian rebalancing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 weight updates from posterior distributions.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asset universe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bonds (BND), international (VXUS), commodities (GLD).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event mapping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Fed decisions and macro events on correlation charts.
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RMarkdown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all analysis into a single reproducible document.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36576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 between popular tech-oriented ETFs are not constant — they shift across market regimes, often converging during the exact moments investors need diversification the most. A time-varying, Bayesian approach to portfolio construction provides a more realistic and adaptive framework than static allocation models.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1828800" cy="118872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ETFs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0" y="3017520"/>
            <a:ext cx="1828800" cy="118872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Strategies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4320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3017520"/>
            <a:ext cx="1828800" cy="118872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10K Portfolios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49440" y="3017520"/>
            <a:ext cx="1828800" cy="1188720"/>
          </a:xfrm>
          <a:prstGeom prst="rect">
            <a:avLst/>
          </a:prstGeom>
          <a:solidFill>
            <a:srgbClr val="0D2B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949440" y="3063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 Months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49440" y="3703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Zeghibe  &amp;  Connor Correnti  |  CSC 485 Data Science Capstone  |  Providence College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github.com/michaelzeghibe/Tracking-Indexes-VS-Financials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1043</Words>
  <Application>Microsoft Office PowerPoint</Application>
  <PresentationFormat>On-screen Show (16:9)</PresentationFormat>
  <Paragraphs>156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Tracking Indexes vs. Financials</dc:title>
  <dc:subject>PptxGenJS Presentation</dc:subject>
  <dc:creator>Michael Zeghibe &amp; Connor Correnti</dc:creator>
  <cp:lastModifiedBy>Zeghibe, Michael W</cp:lastModifiedBy>
  <cp:revision>2</cp:revision>
  <dcterms:created xsi:type="dcterms:W3CDTF">2026-02-27T22:25:34Z</dcterms:created>
  <dcterms:modified xsi:type="dcterms:W3CDTF">2026-03-02T02:04:37Z</dcterms:modified>
</cp:coreProperties>
</file>