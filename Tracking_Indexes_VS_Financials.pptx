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59" r:id="rId6"/>
    <p:sldId id="268" r:id="rId7"/>
    <p:sldId id="261" r:id="rId8"/>
    <p:sldId id="262" r:id="rId9"/>
    <p:sldId id="269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A850F3-CAF3-472C-B8E6-9F048FCB55BE}" v="3" dt="2026-03-02T02:04:31.230"/>
    <p1510:client id="{D8B2D799-86B7-0C77-FA10-420AF1C34E76}" v="4" dt="2026-03-02T02:13:59.8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2" d="100"/>
          <a:sy n="62" d="100"/>
        </p:scale>
        <p:origin x="52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ghibe, Michael W" userId="S::mzeghibe@friars.providence.edu::19d047e5-9c41-4071-99e6-7fc18e142dcf" providerId="AD" clId="Web-{D8B2D799-86B7-0C77-FA10-420AF1C34E76}"/>
    <pc:docChg chg="modSld">
      <pc:chgData name="Zeghibe, Michael W" userId="S::mzeghibe@friars.providence.edu::19d047e5-9c41-4071-99e6-7fc18e142dcf" providerId="AD" clId="Web-{D8B2D799-86B7-0C77-FA10-420AF1C34E76}" dt="2026-03-02T02:13:59.832" v="3" actId="14100"/>
      <pc:docMkLst>
        <pc:docMk/>
      </pc:docMkLst>
      <pc:sldChg chg="delSp modSp">
        <pc:chgData name="Zeghibe, Michael W" userId="S::mzeghibe@friars.providence.edu::19d047e5-9c41-4071-99e6-7fc18e142dcf" providerId="AD" clId="Web-{D8B2D799-86B7-0C77-FA10-420AF1C34E76}" dt="2026-03-02T02:13:59.832" v="3" actId="14100"/>
        <pc:sldMkLst>
          <pc:docMk/>
          <pc:sldMk cId="0" sldId="269"/>
        </pc:sldMkLst>
        <pc:spChg chg="mod">
          <ac:chgData name="Zeghibe, Michael W" userId="S::mzeghibe@friars.providence.edu::19d047e5-9c41-4071-99e6-7fc18e142dcf" providerId="AD" clId="Web-{D8B2D799-86B7-0C77-FA10-420AF1C34E76}" dt="2026-03-02T02:13:54.989" v="2" actId="14100"/>
          <ac:spMkLst>
            <pc:docMk/>
            <pc:sldMk cId="0" sldId="269"/>
            <ac:spMk id="11" creationId="{00000000-0000-0000-0000-000000000000}"/>
          </ac:spMkLst>
        </pc:spChg>
        <pc:spChg chg="mod">
          <ac:chgData name="Zeghibe, Michael W" userId="S::mzeghibe@friars.providence.edu::19d047e5-9c41-4071-99e6-7fc18e142dcf" providerId="AD" clId="Web-{D8B2D799-86B7-0C77-FA10-420AF1C34E76}" dt="2026-03-02T02:13:59.832" v="3" actId="14100"/>
          <ac:spMkLst>
            <pc:docMk/>
            <pc:sldMk cId="0" sldId="269"/>
            <ac:spMk id="12" creationId="{00000000-0000-0000-0000-000000000000}"/>
          </ac:spMkLst>
        </pc:spChg>
        <pc:spChg chg="mod">
          <ac:chgData name="Zeghibe, Michael W" userId="S::mzeghibe@friars.providence.edu::19d047e5-9c41-4071-99e6-7fc18e142dcf" providerId="AD" clId="Web-{D8B2D799-86B7-0C77-FA10-420AF1C34E76}" dt="2026-03-02T02:13:50.207" v="1" actId="14100"/>
          <ac:spMkLst>
            <pc:docMk/>
            <pc:sldMk cId="0" sldId="269"/>
            <ac:spMk id="15" creationId="{00000000-0000-0000-0000-000000000000}"/>
          </ac:spMkLst>
        </pc:spChg>
        <pc:picChg chg="del">
          <ac:chgData name="Zeghibe, Michael W" userId="S::mzeghibe@friars.providence.edu::19d047e5-9c41-4071-99e6-7fc18e142dcf" providerId="AD" clId="Web-{D8B2D799-86B7-0C77-FA10-420AF1C34E76}" dt="2026-03-02T02:13:44.926" v="0"/>
          <ac:picMkLst>
            <pc:docMk/>
            <pc:sldMk cId="0" sldId="269"/>
            <ac:picMk id="14" creationId="{00000000-0000-0000-0000-000000000000}"/>
          </ac:picMkLst>
        </pc:picChg>
      </pc:sldChg>
    </pc:docChg>
  </pc:docChgLst>
  <pc:docChgLst>
    <pc:chgData name="Zeghibe, Michael W" userId="19d047e5-9c41-4071-99e6-7fc18e142dcf" providerId="ADAL" clId="{4E03CE7B-4AAF-4696-8E72-F7B31D2C120D}"/>
    <pc:docChg chg="addSld delSld modSld sldOrd">
      <pc:chgData name="Zeghibe, Michael W" userId="19d047e5-9c41-4071-99e6-7fc18e142dcf" providerId="ADAL" clId="{4E03CE7B-4AAF-4696-8E72-F7B31D2C120D}" dt="2026-03-02T02:04:31.228" v="7"/>
      <pc:docMkLst>
        <pc:docMk/>
      </pc:docMkLst>
      <pc:sldChg chg="modSp del mod">
        <pc:chgData name="Zeghibe, Michael W" userId="19d047e5-9c41-4071-99e6-7fc18e142dcf" providerId="ADAL" clId="{4E03CE7B-4AAF-4696-8E72-F7B31D2C120D}" dt="2026-03-02T02:04:05.134" v="6" actId="47"/>
        <pc:sldMkLst>
          <pc:docMk/>
          <pc:sldMk cId="0" sldId="260"/>
        </pc:sldMkLst>
        <pc:spChg chg="mod">
          <ac:chgData name="Zeghibe, Michael W" userId="19d047e5-9c41-4071-99e6-7fc18e142dcf" providerId="ADAL" clId="{4E03CE7B-4AAF-4696-8E72-F7B31D2C120D}" dt="2026-03-02T02:04:02.420" v="5" actId="20577"/>
          <ac:spMkLst>
            <pc:docMk/>
            <pc:sldMk cId="0" sldId="260"/>
            <ac:spMk id="10" creationId="{00000000-0000-0000-0000-000000000000}"/>
          </ac:spMkLst>
        </pc:spChg>
      </pc:sldChg>
      <pc:sldChg chg="add ord setBg">
        <pc:chgData name="Zeghibe, Michael W" userId="19d047e5-9c41-4071-99e6-7fc18e142dcf" providerId="ADAL" clId="{4E03CE7B-4AAF-4696-8E72-F7B31D2C120D}" dt="2026-03-02T02:03:18.583" v="2"/>
        <pc:sldMkLst>
          <pc:docMk/>
          <pc:sldMk cId="0" sldId="267"/>
        </pc:sldMkLst>
      </pc:sldChg>
      <pc:sldChg chg="add setBg">
        <pc:chgData name="Zeghibe, Michael W" userId="19d047e5-9c41-4071-99e6-7fc18e142dcf" providerId="ADAL" clId="{4E03CE7B-4AAF-4696-8E72-F7B31D2C120D}" dt="2026-03-02T02:03:43.395" v="3"/>
        <pc:sldMkLst>
          <pc:docMk/>
          <pc:sldMk cId="0" sldId="268"/>
        </pc:sldMkLst>
      </pc:sldChg>
      <pc:sldChg chg="add setBg">
        <pc:chgData name="Zeghibe, Michael W" userId="19d047e5-9c41-4071-99e6-7fc18e142dcf" providerId="ADAL" clId="{4E03CE7B-4AAF-4696-8E72-F7B31D2C120D}" dt="2026-03-02T02:04:31.228" v="7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918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 Indexes</a:t>
            </a:r>
            <a:endParaRPr lang="en-US" sz="4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Financials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ETF Correlation, Risk &amp; Portfolio Strategy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Zeghibe  &amp;  Connor Correnti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485 — Data Science Capstone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188720"/>
          </a:xfrm>
          <a:prstGeom prst="rect">
            <a:avLst/>
          </a:prstGeom>
          <a:solidFill>
            <a:srgbClr val="0A162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correlations between popular ETFs — VOO, QQQ, ARKK, and MAGS — shift over time, and what does this mean for portfolio diversification?"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560320" cy="54864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correlation snapshots miss regime shifts — correlations spike during crises, eroding diversification when it's needed most.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6060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29000" y="2606040"/>
            <a:ext cx="2560320" cy="54864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200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Time-varying analysis across 1Y, 2Y, and 3Y rolling windows using monthly log returns, Bayesian updating, and Monte Carlo portfolio simulation.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6060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2606040"/>
            <a:ext cx="2560320" cy="54864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08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Relevance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3200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retail investors understand when their 'diversified' ETF portfolio actually behaves like a single concentrated bet.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Overview &amp; Provenance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6949440" cy="175564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Market / 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QQQ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Nasdaq-100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Tech-Heavy / 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ARKK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Disruptive Innovation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Thematic / 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Magnificent 7 Stocks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Concentrated / 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640080" y="315468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40080" y="3154680"/>
            <a:ext cx="73152" cy="164592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&amp; 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611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 scraped from online financial sources as Excel files. VIX loaded as a volatility reference. All prices aligned to common overlapping dates, converted to monthly end-of-month observations, and transformed to log returns.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31546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63440" y="3154680"/>
            <a:ext cx="73152" cy="1645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Libraries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36118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(primary): readxl, dplyr, tidyr, zoo, ggplot2, lubridate, gridExtra, reshape2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(portfolio sim): pandas, numpy, matplotlib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Power BI (.pbix dashboard)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ETF Price Trends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3035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512064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91440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035040" y="914400"/>
            <a:ext cx="73152" cy="393192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6364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63640" y="1371600"/>
            <a:ext cx="2377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 and QQQ trade at similar price levels ($400–$650), showing steady upward trends.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 and MAGS trade at much lower absolute prices ($30–$80), reflecting their different fund structures.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overlapping period (2023–2026) captures the post-pandemic recovery and AI-driven rally.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overtook VOO in price during the 2025 tech surge.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Analysis &amp; Risk Metrics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7863840" cy="17556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QQQ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ARKK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Ann. Volatility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 Ratio (rf=4%)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~-0.10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vs. VOO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Monthly Log Ret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20040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2"/>
          <p:cNvSpPr/>
          <p:nvPr/>
        </p:nvSpPr>
        <p:spPr>
          <a:xfrm>
            <a:off x="640080" y="320040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7724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 Ann. Volatility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2x the volatility of VOO — highest risk in the group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320040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429000" y="320040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6616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1.60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356616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 Beta vs. VOO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56616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Amplifies market moves by 60%, extreme in downturns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217920" y="320040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217920" y="3200400"/>
            <a:ext cx="256032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55080" y="3337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~0.90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35508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MAGS Sharpe Ratio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5508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risk-adjusted returns despite concentrated holdings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Correlation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7548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05840"/>
            <a:ext cx="448056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914400"/>
            <a:ext cx="32004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0" y="914400"/>
            <a:ext cx="73152" cy="393192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0" y="1051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QQQ–MAGS: 0.92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nearly in lockstep — holding both provides almost zero diversification.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VOO–QQQ: 0.90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overlap due to mega-cap tech dominating both indexes.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ARKK–VOO: 0.78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correlation — ARKK offers the most decorrelation, but at extreme volatility cost.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ARKK–MAGS: 0.77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vs. concentrated passive strategies diverge more than expected.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Time-Varying Rolling Correlations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40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73152" cy="160020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 Correlations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VOO-QQQ stays tightly correlated (~0.9+). VOO-VIX is persistently negative — VIX hedges broad market risk effectively.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840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73152" cy="160020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ARKK Correlations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 decorrelates sharply during the 2020 rally and 2022 crash. 1Y window shows ARKK-VOO correlation dropping below 0.5 — a regime shift.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840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3152" cy="160020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QQQ Correlations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3375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maintains very high correlations with MAGS (0.90+) and VOO (0.85+) across all windows. Limited benefit from holding both.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84048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73152" cy="160020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MAGS Correlations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33756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history limits 3Y windows. Strong co-movement with QQQ and VOO. MAGS-VIX shows expected negative correlation.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 approach: 12-month (1Y), 24-month (2Y), 36-month (3Y) windows on monthly log returns using zoo::rollapply in 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Updating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43000"/>
            <a:ext cx="379476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0233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Updated Expected Monthly Log Return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709160" y="1051560"/>
            <a:ext cx="3977640" cy="3246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43000"/>
            <a:ext cx="3794760" cy="2834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00600" y="402336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P(Positive Return Next Month) from Bayesian Model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ARKK's posterior mean plummeted to -0.03 during the 2022 drawdown, while VOO and QQQ remained positive. The Bayesian model adapts allocation weights in real-time as new return data arrives.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Portfolio Adjustment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5029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484632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2062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Strategy: Bayesian-Adjusted Weights Over Time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669280" y="868680"/>
            <a:ext cx="31089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669280" y="86868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97880" y="91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&amp; Trading Rules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234440"/>
            <a:ext cx="274320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9788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and exit rules compared across ETFs. VOO shows 5.38x growth; QQQ leads at 11.1x.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691691" y="2583629"/>
            <a:ext cx="3086549" cy="101077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686088" y="2589232"/>
            <a:ext cx="67549" cy="101077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89788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Factor Output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5903482" y="1962375"/>
            <a:ext cx="2737598" cy="243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prob-rule growth: 7.19x over 131/145 months invested — the Bayesian signal avoided 14 months of drawdowns.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Allocation Strategies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60320" cy="5029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15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Aggressive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 25%  |  MAGS 30%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35%  |  VOO 10%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423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growth exposure through innovation &amp; mega-tech. High volatility tolerance required. Best during bull markets.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29000" y="1097280"/>
            <a:ext cx="25603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29000" y="1097280"/>
            <a:ext cx="256032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29000" y="1115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 15%  |  MAGS 25%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35%  |  VOO 25%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66160" y="2423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blend of growth and stability. QQQ as core tech exposure with meaningful VOO anchor. Suitable for most investors.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097280"/>
            <a:ext cx="256032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560320" cy="5029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11155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 5%  |  MAGS 15%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30%  |  VOO 50%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55080" y="2423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VOO-dominant for broad market safety. Minimal ARKK limits downside drag. Steady growth with lower drawdowns.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4160520"/>
            <a:ext cx="78638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40080" y="4160520"/>
            <a:ext cx="73152" cy="77724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20624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Efficient Frontier: 10,000 random portfolios simulated using annualized mean returns and covariance matrix. Sharpe ratios calculated with 4% risk-free rate. Results validated that VOO-heavy allocations dominate the efficient frontier for risk-averse investors.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7863840" cy="77724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502920" cy="502920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21615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Diversification Is Time-Dependent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508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between QQQ, VOO, and MAGS surge during market stress. The 2020 and 2022 crises saw correlations spike above 0.95 — portfolios that looked diversified moved as one.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7863840" cy="77724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1762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ARKK Is the Wild Card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468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 offers genuine decorrelation but at extreme cost — 40%+ annualized volatility and a negative Sharpe ratio. Useful only in small allocations for aggressive investors.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7863840" cy="77724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200400"/>
            <a:ext cx="502920" cy="502920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1363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QQQ and MAGS Are Nearly Identical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4290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0.95 correlation, holding both QQQ and MAGS is effectively doubling down on mega-cap tech. Investors should choose one, not both.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40965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Updating Adds Value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3891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Bayesian framework successfully identified regime shifts — flagging ARKK's deterioration months before the 2022 drawdown, enabling proactive weight adjustments.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840480" cy="411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459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MAGS history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launched 2023 — limits long-term backtesting.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 costs modeled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costs would reduce returns.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strategy weights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weights rather than dynamic rebalancing.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&amp; selection bias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ETFs chosen ex-post based on current popularity.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840480" cy="41148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 identification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Hidden Markov Models to detect regimes.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Bayesian rebalancing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weight updates from posteriors.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asset universe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bonds (BND), international (VXUS), commodities (GLD).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event mapping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Fed decisions and macro events on charts.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between popular tech-oriented ETFs are not constant — they shift across market regimes, often converging during the exact moments investors need diversification the most. A time-varying, Bayesian approach to portfolio construction provides a more realistic and adaptive framework than static allocation models.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1828800" cy="118872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ETFs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3200400"/>
            <a:ext cx="1828800" cy="118872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Strategies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3200400"/>
            <a:ext cx="1828800" cy="118872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 Portfolios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632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3200400"/>
            <a:ext cx="1828800" cy="118872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10+ Years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4944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Zeghibe  &amp;  Connor Correnti  |  CSC 485 Data Science Capstone  |  Providence College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1209</Words>
  <Application>Microsoft Office PowerPoint</Application>
  <PresentationFormat>On-screen Show (16:9)</PresentationFormat>
  <Paragraphs>186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Tracking Indexes vs. Financials</dc:title>
  <dc:subject>PptxGenJS Presentation</dc:subject>
  <dc:creator>Michael Zeghibe &amp; Connor Correnti</dc:creator>
  <cp:lastModifiedBy>Zeghibe, Michael W</cp:lastModifiedBy>
  <cp:revision>6</cp:revision>
  <dcterms:created xsi:type="dcterms:W3CDTF">2026-02-27T19:07:34Z</dcterms:created>
  <dcterms:modified xsi:type="dcterms:W3CDTF">2026-03-02T02:14:00Z</dcterms:modified>
</cp:coreProperties>
</file>